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32004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5080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889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274320"/>
            <a:ext cx="2194560" cy="2194560"/>
          </a:xfrm>
          <a:prstGeom prst="ellipse">
            <a:avLst/>
          </a:prstGeom>
          <a:solidFill>
            <a:srgbClr val="004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91440"/>
            <a:ext cx="1097280" cy="1097280"/>
          </a:xfrm>
          <a:prstGeom prst="ellipse">
            <a:avLst/>
          </a:prstGeom>
          <a:solidFill>
            <a:srgbClr val="006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0" y="91440"/>
            <a:ext cx="548640" cy="548640"/>
          </a:xfrm>
          <a:prstGeom prst="ellipse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182880" y="6126480"/>
            <a:ext cx="914400" cy="914400"/>
          </a:xfrm>
          <a:prstGeom prst="ellipse">
            <a:avLst/>
          </a:prstGeom>
          <a:solidFill>
            <a:srgbClr val="004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914400"/>
            <a:ext cx="1645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9144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fiskMail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PRODUCT ROADMAP  ·  2025 –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 Light"/>
              </a:rPr>
              <a:t>Future
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D9"/>
                </a:solidFill>
                <a:latin typeface="Calibri Light"/>
              </a:rPr>
              <a:t>A roadmap of enhancements to elevate the fiskMail
platform for students, admins, and the Fisk community.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035040"/>
            <a:ext cx="1463040" cy="279400"/>
          </a:xfrm>
          <a:prstGeom prst="rect">
            <a:avLst/>
          </a:prstGeom>
          <a:solidFill>
            <a:srgbClr val="45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1463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 Focus Areas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6035040"/>
            <a:ext cx="1463040" cy="279400"/>
          </a:xfrm>
          <a:prstGeom prst="rect">
            <a:avLst/>
          </a:prstGeom>
          <a:solidFill>
            <a:srgbClr val="45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6035040"/>
            <a:ext cx="1463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15+ Initiatives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6035040"/>
            <a:ext cx="1463040" cy="279400"/>
          </a:xfrm>
          <a:prstGeom prst="rect">
            <a:avLst/>
          </a:prstGeom>
          <a:solidFill>
            <a:srgbClr val="45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6035040"/>
            <a:ext cx="1463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Student-First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309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5506A"/>
                </a:solidFill>
                <a:latin typeface="Calibri"/>
              </a:rPr>
              <a:t>Last Updated · February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ROADMAP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 Light"/>
              </a:rPr>
              <a:t>Six Strategic Focus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3611880" cy="2103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3611880" cy="508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B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4592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Package &amp;
Mail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9"/>
                </a:solidFill>
                <a:latin typeface="Calibri Light"/>
              </a:rPr>
              <a:t>QR Scan · Labels · Batch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554480"/>
            <a:ext cx="3611880" cy="2103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554480"/>
            <a:ext cx="361188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E5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164592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Mobile
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92608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9"/>
                </a:solidFill>
                <a:latin typeface="Calibri Light"/>
              </a:rPr>
              <a:t>PWA · Push Notifs · Touch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554480"/>
            <a:ext cx="3611880" cy="2103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1554480"/>
            <a:ext cx="36118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A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164592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Student
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92608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9"/>
                </a:solidFill>
                <a:latin typeface="Calibri Light"/>
              </a:rPr>
              <a:t>Prefs · History · Calendar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31920"/>
            <a:ext cx="3611880" cy="2103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931920"/>
            <a:ext cx="361188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B47BC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02336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Admin
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9"/>
                </a:solidFill>
                <a:latin typeface="Calibri Light"/>
              </a:rPr>
              <a:t>Analytics · Bulk ·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3931920"/>
            <a:ext cx="3611880" cy="2103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3931920"/>
            <a:ext cx="3611880" cy="508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7043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6632" y="402336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Platform
&amp;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53035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9"/>
                </a:solidFill>
                <a:latin typeface="Calibri Light"/>
              </a:rPr>
              <a:t>API · Multi-Location · Offline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3931920"/>
            <a:ext cx="3611880" cy="21031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8744" y="3931920"/>
            <a:ext cx="3611880" cy="508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402336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Accessibility
&amp; Inclusion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53035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9"/>
                </a:solidFill>
                <a:latin typeface="Calibri Light"/>
              </a:rPr>
              <a:t>a11y · l10n · Screen Reader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417320"/>
            <a:ext cx="12188952" cy="25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8B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  <a:latin typeface="Calibri"/>
              </a:rPr>
              <a:t>PACKAGE &amp; MAIL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572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Smart Mail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600200"/>
            <a:ext cx="3520440" cy="508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384048" cy="38404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QR Code Scanning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62072"/>
            <a:ext cx="3191256" cy="127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Scan package QR codes to auto-fill recipient details by student ID or barcode — eliminating manual entry errors and dramatically speeding up both receive and pickup workflows.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600200"/>
            <a:ext cx="3520440" cy="508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98848" y="1764792"/>
            <a:ext cx="384048" cy="38404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Barcode / Label Printing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862072"/>
            <a:ext cx="3191256" cy="127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Instantly generate and print unique labels or barcodes the moment a package arrives, making every mail item scannable and fully traceable throughout its lifecycle.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5864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1600200"/>
            <a:ext cx="3520440" cy="508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6" y="1764792"/>
            <a:ext cx="384048" cy="38404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Batch Receive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2862072"/>
            <a:ext cx="3191256" cy="127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Accept multiple parcels in a single scan session — ideal for high-volume days when dozens of packages arrive simultaneously and speed is critical.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" y="6035040"/>
            <a:ext cx="12079224" cy="71323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08076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  <a:latin typeface="Calibri"/>
              </a:rPr>
              <a:t>&gt;&gt; IMPACT  —  Reduces receive time by up to 70% and eliminates manual-entry mistakes.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417320"/>
            <a:ext cx="121889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E5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MOBILE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572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Mobile-First 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600200"/>
            <a:ext cx="352044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384048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Student Mobile App (PWA)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62072"/>
            <a:ext cx="3191256" cy="12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A native-feel Progressive Web App so students can check 'you have mail' alerts, view mail items, and get push notifications anytime, anywhere on their smartphones.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600200"/>
            <a:ext cx="352044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98848" y="1764792"/>
            <a:ext cx="384048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Admin Mobile 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862072"/>
            <a:ext cx="3191256" cy="12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Tablet and phone-optimized receive-and-pickup workflows so mailroom staff can scan, look up, and mark items as picked up at the desk — no desktop required.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5864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1600200"/>
            <a:ext cx="352044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6" y="1764792"/>
            <a:ext cx="384048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Responsive &amp; Touch-Friendly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2862072"/>
            <a:ext cx="3191256" cy="12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Continued refinement of all UI flows for small screens and touch gestures, ensuring the platform feels native on any device.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" y="6035040"/>
            <a:ext cx="12079224" cy="71323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08076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&gt;&gt; IMPACT  —  Enables on-the-go access for both students and staff — anytime, anywhere.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417320"/>
            <a:ext cx="12188952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D4A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USERS (STUDENTS)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572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Student-Centric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600200"/>
            <a:ext cx="352044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384048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Notification Preferences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62072"/>
            <a:ext cx="3191256" cy="127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Give students granular control: choose channels (in-app, email, SMS, push) and cadence (instant vs. daily digest) so they only receive what they want, when they want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600200"/>
            <a:ext cx="352044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98848" y="1764792"/>
            <a:ext cx="384048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Mail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862072"/>
            <a:ext cx="3191256" cy="127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A personal timeline of all past pickups and notifications — handy for confirming receipt or resolving disputes without burdening mailroom staff.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5864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1600200"/>
            <a:ext cx="352044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6" y="1764792"/>
            <a:ext cx="384048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Calendar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2862072"/>
            <a:ext cx="3191256" cy="127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Optional reminders tied to 'pick up by' deadlines and mailroom hours, surfaced in the student's personal calendar view to maximize pickup rates.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" y="6035040"/>
            <a:ext cx="12079224" cy="71323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08076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&gt;&gt; IMPACT  —  Increases student pickup rates and satisfaction through personalized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417320"/>
            <a:ext cx="12188952" cy="254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AB47BC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47BC"/>
                </a:solidFill>
                <a:latin typeface="Calibri"/>
              </a:rPr>
              <a:t>ADMINS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572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Powerful Admin Tooling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" y="1600200"/>
            <a:ext cx="256032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" y="1600200"/>
            <a:ext cx="256032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" y="1764792"/>
            <a:ext cx="384048" cy="38404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" y="2258568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" y="2862072"/>
            <a:ext cx="2231136" cy="127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" y="2971800"/>
            <a:ext cx="223113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Live dashboards tracking mail volume, average time-to-pickup, and reminder effectiveness — giving administrators the data needed to optimize operations and resource planning.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33572" y="1600200"/>
            <a:ext cx="256032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3572" y="1600200"/>
            <a:ext cx="256032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98164" y="1764792"/>
            <a:ext cx="384048" cy="38404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8164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8164" y="2258568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Bulk 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8164" y="2862072"/>
            <a:ext cx="2231136" cy="127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8164" y="2971800"/>
            <a:ext cx="223113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Broadcast reminders to multiple students at once (e.g., 'all with unclaimed mail') with a single action, saving hours of manual outreach.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5060" y="1600200"/>
            <a:ext cx="256032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5060" y="1600200"/>
            <a:ext cx="256032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9652" y="1764792"/>
            <a:ext cx="384048" cy="38404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9652" y="2258568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Roles &amp; Permissions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9652" y="2862072"/>
            <a:ext cx="2231136" cy="127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9652" y="2971800"/>
            <a:ext cx="223113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Granular role definitions — mailroom-only vs. full admin — so bigger teams can collaborate securely without over-privileging staff.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6548" y="1600200"/>
            <a:ext cx="256032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56548" y="1600200"/>
            <a:ext cx="256032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21140" y="1764792"/>
            <a:ext cx="384048" cy="38404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21140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1140" y="2258568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21140" y="2862072"/>
            <a:ext cx="2231136" cy="127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1140" y="2971800"/>
            <a:ext cx="223113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An immutable record of who received what, when it was picked up, and who performed each action — essential for compliance and troubleshooting.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" y="6035040"/>
            <a:ext cx="12079224" cy="71323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08076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B47BC"/>
                </a:solidFill>
                <a:latin typeface="Calibri"/>
              </a:rPr>
              <a:t>&gt;&gt; IMPACT  —  Empowers admins with data, automation, and accountability at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417320"/>
            <a:ext cx="12188952" cy="254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7043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043"/>
                </a:solidFill>
                <a:latin typeface="Calibri"/>
              </a:rPr>
              <a:t>PLATFORM &amp;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572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Enterprise-Grade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600200"/>
            <a:ext cx="3520440" cy="508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384048" cy="3840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API for Integrations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62072"/>
            <a:ext cx="3191256" cy="127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An open REST API that lets other campus systems — housing, enrollment, student ID — trigger fiskMail notifications or query mail status, turning it into the campus logistics hub.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600200"/>
            <a:ext cx="3520440" cy="508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98848" y="1764792"/>
            <a:ext cx="384048" cy="3840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Multi-Location Mailrooms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862072"/>
            <a:ext cx="3191256" cy="127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First-class support for multiple pickup desks or buildings, each with its own queue, hours, and staff — ready for campus expansion or multi-site deployments.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5864" y="1600200"/>
            <a:ext cx="352044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1600200"/>
            <a:ext cx="3520440" cy="508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6" y="1764792"/>
            <a:ext cx="384048" cy="3840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2258568"/>
            <a:ext cx="3191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Offline-Capable Flows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2862072"/>
            <a:ext cx="3191256" cy="127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2971800"/>
            <a:ext cx="31912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Allow admins to record receives and pickups when connectivity is poor, buffering actions locally and syncing automatically once the connection is restored.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" y="6035040"/>
            <a:ext cx="12079224" cy="71323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08076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043"/>
                </a:solidFill>
                <a:latin typeface="Calibri"/>
              </a:rPr>
              <a:t>&gt;&gt; IMPACT  —  Positions fiskMail as a scalable, integration-ready campus infrastructure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417320"/>
            <a:ext cx="12188952" cy="25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C800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800"/>
                </a:solidFill>
                <a:latin typeface="Calibri"/>
              </a:rPr>
              <a:t>ACCESSIBILITY &amp; INCLUSION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572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Inclusive by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" y="1600200"/>
            <a:ext cx="539496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" y="1600200"/>
            <a:ext cx="5394960" cy="508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" y="1764792"/>
            <a:ext cx="384048" cy="38404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" y="2258568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Accessibility 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" y="2862072"/>
            <a:ext cx="5065776" cy="127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" y="2971800"/>
            <a:ext cx="50657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A formal WCAG 2.1 AA review covering keyboard navigation, screen reader compatibility, and color contrast — ensuring every user can interact with fiskMail regardless of ability.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60" y="1600200"/>
            <a:ext cx="5394960" cy="393192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1600200"/>
            <a:ext cx="5394960" cy="508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9652" y="1764792"/>
            <a:ext cx="384048" cy="38404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9652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9652" y="2258568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Language &amp; Localization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9652" y="2862072"/>
            <a:ext cx="5065776" cy="127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9652" y="2971800"/>
            <a:ext cx="50657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9"/>
                </a:solidFill>
                <a:latin typeface="Calibri Light"/>
              </a:rPr>
              <a:t>i18n-ready architecture so the platform can be translated for international students or expanded to multilingual campuses without a full rewrite.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" y="6035040"/>
            <a:ext cx="12079224" cy="713232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08076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  <a:latin typeface="Calibri"/>
              </a:rPr>
              <a:t>&gt;&gt; IMPACT  —  Ensures fiskMail is usable by and welcoming to every member of the Fisk community.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 Light"/>
              </a:rPr>
              <a:t>Phased Rollout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" y="1508760"/>
            <a:ext cx="2743200" cy="4572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4" y="1508760"/>
            <a:ext cx="2743200" cy="635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" y="161848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8BFF"/>
                </a:solidFill>
                <a:latin typeface="Calibri"/>
              </a:rPr>
              <a:t>Phase 1
Q2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" y="2350008"/>
            <a:ext cx="2468880" cy="25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" y="246888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" y="2468880"/>
            <a:ext cx="50800" cy="6583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" y="257860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QR Code Scanning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" y="329184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" y="3291840"/>
            <a:ext cx="50800" cy="6583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" y="34015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Label Printing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" y="411480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" y="4114800"/>
            <a:ext cx="50800" cy="6583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" y="422452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Batch Receive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" y="493776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" y="4937760"/>
            <a:ext cx="50800" cy="6583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" y="504748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Student PWA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50692" y="1508760"/>
            <a:ext cx="2743200" cy="4572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50692" y="1508760"/>
            <a:ext cx="2743200" cy="63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50692" y="161848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E5FF"/>
                </a:solidFill>
                <a:latin typeface="Calibri"/>
              </a:rPr>
              <a:t>Phase 2
Q3 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7852" y="2350008"/>
            <a:ext cx="246888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7852" y="246888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7852" y="2468880"/>
            <a:ext cx="50800" cy="6583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3300" y="257860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Admin Mobile App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7852" y="329184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7852" y="3291840"/>
            <a:ext cx="50800" cy="6583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3300" y="34015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Notification Prefs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7852" y="411480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7852" y="4114800"/>
            <a:ext cx="50800" cy="6583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3300" y="422452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Mail History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7852" y="493776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7852" y="4937760"/>
            <a:ext cx="50800" cy="6583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3300" y="504748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5060" y="1508760"/>
            <a:ext cx="2743200" cy="4572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5060" y="1508760"/>
            <a:ext cx="274320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5060" y="161848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AA"/>
                </a:solidFill>
                <a:latin typeface="Calibri"/>
              </a:rPr>
              <a:t>Phase 3
Q4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32220" y="2350008"/>
            <a:ext cx="246888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32220" y="246888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32220" y="2468880"/>
            <a:ext cx="50800" cy="6583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7668" y="257860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Calendar Integration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32220" y="329184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32220" y="3291840"/>
            <a:ext cx="50800" cy="6583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87668" y="34015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Bulk Admin Actions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2220" y="411480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32220" y="4114800"/>
            <a:ext cx="50800" cy="6583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7668" y="422452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Roles &amp; Permissions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32220" y="493776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32220" y="4937760"/>
            <a:ext cx="50800" cy="6583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7668" y="504748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39428" y="1508760"/>
            <a:ext cx="2743200" cy="4572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39428" y="1508760"/>
            <a:ext cx="2743200" cy="635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39428" y="161848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800"/>
                </a:solidFill>
                <a:latin typeface="Calibri"/>
              </a:rPr>
              <a:t>Phase 4
Q1 2026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76588" y="2350008"/>
            <a:ext cx="2468880" cy="25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76588" y="246888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76588" y="2468880"/>
            <a:ext cx="50800" cy="65836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32036" y="257860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Public API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76588" y="329184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76588" y="3291840"/>
            <a:ext cx="50800" cy="65836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32036" y="34015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Multi-Location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76588" y="411480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76588" y="4114800"/>
            <a:ext cx="50800" cy="65836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32036" y="422452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Offline Mode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76588" y="4937760"/>
            <a:ext cx="2468880" cy="658368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76588" y="4937760"/>
            <a:ext cx="50800" cy="65836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32036" y="504748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a11y Audit &amp; l10n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49524" y="3782060"/>
            <a:ext cx="201168" cy="25400"/>
          </a:xfrm>
          <a:prstGeom prst="rect">
            <a:avLst/>
          </a:prstGeom>
          <a:solidFill>
            <a:srgbClr val="45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93892" y="3782060"/>
            <a:ext cx="201168" cy="25400"/>
          </a:xfrm>
          <a:prstGeom prst="rect">
            <a:avLst/>
          </a:prstGeom>
          <a:solidFill>
            <a:srgbClr val="45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3782060"/>
            <a:ext cx="201168" cy="25400"/>
          </a:xfrm>
          <a:prstGeom prst="rect">
            <a:avLst/>
          </a:prstGeom>
          <a:solidFill>
            <a:srgbClr val="45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19756" y="-45720"/>
            <a:ext cx="6949440" cy="6949440"/>
          </a:xfrm>
          <a:prstGeom prst="ellipse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5476" y="0"/>
            <a:ext cx="6858000" cy="6858000"/>
          </a:xfrm>
          <a:prstGeom prst="ellipse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36876" y="-228600"/>
            <a:ext cx="7315200" cy="7315200"/>
          </a:xfrm>
          <a:prstGeom prst="ellipse">
            <a:avLst/>
          </a:prstGeom>
          <a:noFill/>
          <a:ln w="12700">
            <a:solidFill>
              <a:srgbClr val="45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6" y="1737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BFF"/>
                </a:solidFill>
                <a:latin typeface="Calibri"/>
              </a:rPr>
              <a:t>fiskMail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4076" y="228600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 Light"/>
              </a:rPr>
              <a:t>Built for the
Fisk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6" y="4023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D9"/>
                </a:solidFill>
                <a:latin typeface="Calibri Light"/>
              </a:rPr>
              <a:t>These improvements are driven by one goal:
making campus mail effortless, inclusive, and fast.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6796" y="5212080"/>
            <a:ext cx="2743200" cy="47548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96796" y="5212080"/>
            <a:ext cx="50800" cy="4754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6524" y="52578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 Ship Phase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1436" y="5212080"/>
            <a:ext cx="2743200" cy="47548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1436" y="5212080"/>
            <a:ext cx="50800" cy="4754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1164" y="52578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 Review Analytics Goals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6076" y="5212080"/>
            <a:ext cx="2743200" cy="475488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66076" y="5212080"/>
            <a:ext cx="50800" cy="4754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5804" y="52578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 Commission a11y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5506A"/>
                </a:solidFill>
                <a:latin typeface="Calibri"/>
              </a:rPr>
              <a:t>github.com/4cyberlord/fiskMail  ·  February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